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AZINHACK ’26 SUBMISSION  •  TRACK: WEB INTELLIGENCE &amp; AI AGENTS</a:t>
            </a:r>
          </a:p>
          <a:p>
            <a:pPr>
              <a:spcAft>
                <a:spcPts val="1000"/>
              </a:spcAft>
              <a:defRPr sz="5400" b="1">
                <a:solidFill>
                  <a:srgbClr val="F8FAFC"/>
                </a:solidFill>
              </a:defRPr>
            </a:pPr>
            <a:r>
              <a:t>Oppora</a:t>
            </a:r>
          </a:p>
          <a:p>
            <a:pPr>
              <a:spcAft>
                <a:spcPts val="1800"/>
              </a:spcAft>
              <a:defRPr sz="2400" b="1">
                <a:solidFill>
                  <a:srgbClr val="6366F1"/>
                </a:solidFill>
              </a:defRPr>
            </a:pPr>
            <a:r>
              <a:t>Better Opportunities. Smarter Moves.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An AI-powered startup opportunity intelligence platform that continuously discovers non-dilutive grants, accelerators, and fellowships from the live web using TinyFish, evaluates deterministic eligibility, and generates actionable application readiness checklists.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Presenter: Solo Founder &amp; Full-Stack Engineer   |   Tech Stack: Next.js 14, TypeScript, TinyFish Search &amp; Fetch APIs, Zod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Founders Are Locked Out by Fragmented Web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43F5E"/>
                </a:solidFill>
              </a:defRPr>
            </a:pPr>
            <a:r>
              <a:t>01  FRAGMENTED PORTALS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Information is Spread Thin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Government grants (NSF, SBIR, Horizon Europe), university prizes, and private accelerators publish open calls on isolated, unlinked websites with aggressive anti-scraping walls.</a:t>
            </a:r>
            <a:br/>
            <a:br/>
            <a:r>
              <a:t>Founders spend 15+ hours weekly manual-googling instead of building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02  DISQUALIFICATION TRAPS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Wasted Application Hours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Crucial disqualifiers are buried in 40-page PDF guidelines: strict geographic incorporation rules, stage ceilings (TRL limitations), or unstated legal structures.</a:t>
            </a:r>
            <a:br/>
            <a:br/>
            <a:r>
              <a:t>Founders discover they are ineligible only after submitting weeks of technical proposals.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366F1"/>
                </a:solidFill>
              </a:defRPr>
            </a:pPr>
            <a:r>
              <a:t>03  STALE STATIC DIRECTORIES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Outdated Listings &amp; Closed Cycles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Existing aggregator databases rely on manual curation, leading to expired cycles, broken portal links, and hallucinated grant amounts.</a:t>
            </a:r>
            <a:br/>
            <a:br/>
            <a:r>
              <a:t>Founders need live web verification, confirmed source links, and clear distinction between open and expired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Solution: A Grounded Deal Pipeline for Startup Grants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Startup Profile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Founder inputs industry, development stage, country, entity structure, and keywords. (1-click presets for testing).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6366F1"/>
                </a:solidFill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Live Discovery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TinyFish Search &amp; Fetch APIs scour the live web, bypassing bot firewalls and rendering dynamic JS into structured Markdown.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Eligibility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Deterministic matching calculates a 0-100% heuristic fit score. Hard caps (&lt;=25%) isolate geographic, stage, or expired blockers.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Action Readiness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application checklist with mandatory portal requirements, manual verification items, and persistent progress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Architecture: Proven Live Web &amp; Deterministic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6366F1"/>
                </a:solidFill>
              </a:defRPr>
            </a:pPr>
            <a:r>
              <a:t>TINYFISH LIVE WEB INTELLIGENCE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Authentic Web Discovery &amp; Source Extraction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TinyFish Search API (GET):</a:t>
            </a:r>
            <a:r>
              <a:rPr sz="1200">
                <a:solidFill>
                  <a:srgbClr val="94A3B8"/>
                </a:solidFill>
              </a:rPr>
              <a:t> Discovers live RFP announcements, grants, and accelerator calls using targeted search queries.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TinyFish Fetch API (POST):</a:t>
            </a:r>
            <a:r>
              <a:rPr sz="1200">
                <a:solidFill>
                  <a:srgbClr val="94A3B8"/>
                </a:solidFill>
              </a:rPr>
              <a:t> Renders client-side SPAs using headless Chromium, bypassing anti-bot walls to extract clean Markdown text (up to 36k chars).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Source Grounding:</a:t>
            </a:r>
            <a:r>
              <a:rPr sz="1200">
                <a:solidFill>
                  <a:srgbClr val="94A3B8"/>
                </a:solidFill>
              </a:rPr>
              <a:t> Every opportunity retains its official source URL, application portal, and retrieval timestamp.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SSRF &amp; Security Shield:</a:t>
            </a:r>
            <a:r>
              <a:rPr sz="1200">
                <a:solidFill>
                  <a:srgbClr val="94A3B8"/>
                </a:solidFill>
              </a:rPr>
              <a:t> Blocks loopback, private RFC 1918 subnets, cloud metadata (169.254.169.254), and redirects.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DETERMINISTIC EVALUATION ENGINE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Grounded Scoring &amp; Action Readiness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Heuristic Fit Scoring (5% - 98%):</a:t>
            </a:r>
            <a:r>
              <a:rPr sz="1200">
                <a:solidFill>
                  <a:srgbClr val="94A3B8"/>
                </a:solidFill>
              </a:rPr>
              <a:t> Evaluates geography, development stage, entity type, and keywords. (Never promises winning odds).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Hard Disqualification Caps:</a:t>
            </a:r>
            <a:r>
              <a:rPr sz="1200">
                <a:solidFill>
                  <a:srgbClr val="94A3B8"/>
                </a:solidFill>
              </a:rPr>
              <a:t> Immediate score cap (&lt;=25%) on geographic mismatches (e.g. US team on EU EIC grant) and expired deadlines (&lt;=15%).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Confidence Penalty:</a:t>
            </a:r>
            <a:r>
              <a:rPr sz="1200">
                <a:solidFill>
                  <a:srgbClr val="94A3B8"/>
                </a:solidFill>
              </a:rPr>
              <a:t> Missing source information lowers certainty instead of being assumed as positive.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6B6D4"/>
                </a:solidFill>
              </a:rPr>
              <a:t>• Readiness Checklist:</a:t>
            </a:r>
            <a:r>
              <a:rPr sz="1200">
                <a:solidFill>
                  <a:srgbClr val="94A3B8"/>
                </a:solidFill>
              </a:rPr>
              <a:t> Generates categorized submission items, tracks completion percentage, and persists state in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Product Walkthrough: Grounded Dashboard &amp; Action Drawer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REAL-TIME OPPORTUNITY CARDS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Card 1: High Fit Match (98% Relevance)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• Program: NSF America's Seed Fund (SBIR Phase I)</a:t>
            </a:r>
            <a:br/>
            <a:r>
              <a:t>• Benefits: $275,000 non-dilutive grant</a:t>
            </a:r>
            <a:br/>
            <a:r>
              <a:t>• Stated Deadline: Nov 5, 2026 (Open, specific)</a:t>
            </a:r>
            <a:br/>
            <a:r>
              <a:t>• Eligibility Synergy: Confirmed US-incorporated R&amp;D small business, prototype stage match, deeptech domain synergy.</a:t>
            </a:r>
          </a:p>
          <a:p>
            <a:pPr>
              <a:spcAft>
                <a:spcPts val="400"/>
              </a:spcAft>
              <a:defRPr sz="1500" b="1">
                <a:solidFill>
                  <a:srgbClr val="F43F5E"/>
                </a:solidFill>
              </a:defRPr>
            </a:pPr>
            <a:r>
              <a:t>Card 2: Hard Disqualification (Capped at 25%)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Program: European Innovation Council (EIC) Accelerator</a:t>
            </a:r>
            <a:br/>
            <a:r>
              <a:t>• Benefits: €2.5M grant + €15M equity</a:t>
            </a:r>
            <a:br/>
            <a:r>
              <a:t>• Disqualification Flag: Geographic ineligibility explicitly detected (US startup ineligible for EU Member States program).</a:t>
            </a:r>
            <a:br/>
            <a:r>
              <a:t>• Founder Saved: 30+ hours of wasted proposal drafting.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INSPECTION &amp; ACTION READINESS DRAWER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Step-by-Step Application Roadmap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Stated Source Documentation:</a:t>
            </a:r>
            <a:br/>
            <a:r>
              <a:t>  Direct links to official application portal + primary source.</a:t>
            </a:r>
            <a:br/>
            <a:r>
              <a:t>• Grounded Match Breakdown:</a:t>
            </a:r>
            <a:br/>
            <a:r>
              <a:t>  Detailed evidence reasons, potential conflicts, and confidence score.</a:t>
            </a:r>
            <a:br/>
            <a:r>
              <a:t>• Categorized Application Checklist:</a:t>
            </a:r>
            <a:br/>
            <a:r>
              <a:t>  1. Provider Requirements (Project Pitch, Technical Proposal)</a:t>
            </a:r>
            <a:br/>
            <a:r>
              <a:t>  2. Manual Verifications (SAM.gov Cage Code registration)</a:t>
            </a:r>
            <a:br/>
            <a:r>
              <a:t>  3. Recommended Prep (Executive Summary, IP strategy audit)</a:t>
            </a:r>
            <a:br/>
            <a:r>
              <a:t>• Dynamic Persistence:</a:t>
            </a:r>
            <a:br/>
            <a:r>
              <a:t>  Progress updates live and persists across browser refreshes via localStorage.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Differentiation: Why Oppora Delivers Verifiable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SOURCE-LINKED TRUTH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Never Hallucinates Programs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Oppora does not invent grants or deadlines. Every record is grounded in live web pages fetched via TinyFish or verified benchmark fixtures with active official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43F5E"/>
                </a:solidFill>
              </a:defRPr>
            </a:pPr>
            <a:r>
              <a:t>HONEST HEURISTIC FIT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Explicit Disqualification Caps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Match scores are heuristic fit estimates (0-100%), not fake winning probabilities. Ineligibilities and expired deadlines are strictly capped and visually flagged.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366F1"/>
                </a:solidFill>
              </a:defRPr>
            </a:pPr>
            <a:r>
              <a:t>LIVE VS. BENCHMARK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Zero-Credential Reliability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Transparently distinguishes live discoveries from benchmark catalogs. Works flawlessly whether connected to live TinyFish APIs or in offline demo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GROWTH PLAN (PROPOSED)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Proposed Business Model &amp;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PROPOSED BUSINESS MODEL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Freemium Founder Deal 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Free Founder Tier (Core MVP):</a:t>
            </a:r>
            <a:br/>
            <a:r>
              <a:t>  Unlimited opportunity searches, heuristic eligibility matching, and basic application checklists.</a:t>
            </a:r>
            <a:br/>
            <a:br/>
            <a:r>
              <a:t>• Pro Founder Tier ($29/mo proposed):</a:t>
            </a:r>
            <a:br/>
            <a:r>
              <a:t>  Continuous automated web monitoring, instant email alerts when new eligible RFPs drop, and multi-country tax credit synthesis.</a:t>
            </a:r>
            <a:br/>
            <a:br/>
            <a:r>
              <a:t>• Incubator / Accelerator License ($199/mo proposed):</a:t>
            </a:r>
            <a:br/>
            <a:r>
              <a:t>  Portfolio dashboard tracking opportunity deadlines across 20+ cohort ventures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6366F1"/>
                </a:solidFill>
              </a:defRPr>
            </a:pPr>
            <a:r>
              <a:t>PRODUCT ROADMAP (PLANNED)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Engineering Execution Horizon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Phase 1 (Today - AZINHACK '26):</a:t>
            </a:r>
            <a:br/>
            <a:r>
              <a:t>  Production-ready Next.js MVP, live TinyFish Search &amp; Fetch pipeline, 20 automated tests, and benchmark fallback.</a:t>
            </a:r>
            <a:br/>
            <a:br/>
            <a:r>
              <a:t>• Phase 2 (Q2 2026):</a:t>
            </a:r>
            <a:br/>
            <a:r>
              <a:t>  Automated recurring cron monitoring for new government solicitations; PDF grant guidelines parser.</a:t>
            </a:r>
            <a:br/>
            <a:br/>
            <a:r>
              <a:t>• Phase 3 (Q3 2026):</a:t>
            </a:r>
            <a:br/>
            <a:r>
              <a:t>  AI Grant Writing Assistant synthesizing first-draft project pitches grounded in founder's profile.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AZINHACK ’26 SUBMISSION SUMMARY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Oppora</a:t>
            </a:r>
          </a:p>
          <a:p>
            <a:pPr>
              <a:spcAft>
                <a:spcPts val="1600"/>
              </a:spcAft>
              <a:defRPr sz="2200" b="1">
                <a:solidFill>
                  <a:srgbClr val="6366F1"/>
                </a:solidFill>
              </a:defRPr>
            </a:pPr>
            <a:r>
              <a:t>Better Opportunities. Smarter Moves.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• Production Build: Passing cleanly (Next.js 14, 0 errors)</a:t>
            </a:r>
            <a:br/>
            <a:r>
              <a:t>• Test Suite: 20 automated tests passed (100% deterministic &amp; offline-safe)</a:t>
            </a:r>
            <a:br/>
            <a:r>
              <a:t>• Live Web Intelligence: TinyFish Search &amp; Fetch verified on live grant portals</a:t>
            </a:r>
            <a:br/>
            <a:r>
              <a:t>• Demo Reliability: Zero-credential benchmark mode guarantees pitch stability</a:t>
            </a:r>
            <a:br/>
            <a:r>
              <a:t>• Deployment: [Pending User Permission / Vercel Ready: https://oppora.vercel.app (Placeholder)]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Thank you! Ready for Judge Q&amp;A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