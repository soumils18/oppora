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630936"/>
            <a:ext cx="3291840" cy="3840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594360"/>
            <a:ext cx="3291840" cy="384048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HACKATHON DECK //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10728655" cy="2514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143000"/>
            <a:ext cx="10728655" cy="2514600"/>
          </a:xfrm>
          <a:prstGeom prst="rect">
            <a:avLst/>
          </a:prstGeom>
          <a:solidFill>
            <a:srgbClr val="FFFFFF"/>
          </a:solidFill>
          <a:ln w="444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280160"/>
            <a:ext cx="10149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800" b="1">
                <a:solidFill>
                  <a:srgbClr val="0C0D0E"/>
                </a:solidFill>
                <a:latin typeface="Arial Black"/>
              </a:defRPr>
            </a:pPr>
            <a:r>
              <a:t>OPPORA</a:t>
            </a:r>
          </a:p>
          <a:p>
            <a:pPr>
              <a:defRPr sz="2200" b="1">
                <a:solidFill>
                  <a:srgbClr val="10B981"/>
                </a:solidFill>
                <a:latin typeface="Arial Black"/>
              </a:defRPr>
            </a:pPr>
            <a:r>
              <a:t>RUN SMARTER. GROW FURTHER.</a:t>
            </a:r>
          </a:p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The AI-Powered Operations Copilot for Startups &amp; Small Businesses.</a:t>
            </a:r>
            <a:br/>
            <a:r>
              <a:t>Unifying live inventory records, deterministic safeguards, and autonomous external web research.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4050791"/>
            <a:ext cx="3413455" cy="2331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977639"/>
            <a:ext cx="3413455" cy="2331720"/>
          </a:xfrm>
          <a:prstGeom prst="rect">
            <a:avLst/>
          </a:prstGeom>
          <a:solidFill>
            <a:srgbClr val="FEF08A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19"/>
            <a:ext cx="3047695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C0D0E"/>
                </a:solidFill>
                <a:latin typeface="Arial Black"/>
              </a:defRPr>
            </a:pPr>
            <a:r>
              <a:t>DETERMINISTIC CORE</a:t>
            </a:r>
          </a:p>
          <a:p>
            <a:br/>
            <a:pPr>
              <a:defRPr sz="1100">
                <a:solidFill>
                  <a:srgbClr val="0C0D0E"/>
                </a:solidFill>
                <a:latin typeface="Arial"/>
              </a:defRPr>
            </a:pPr>
            <a:r>
              <a:t>PostgreSQL ACID ledger and TypeScript operations engine govern stock quantities, margins, and purchase orders safely.</a:t>
            </a:r>
            <a:br/>
          </a:p>
          <a:p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[TECH: SUPABASE RPCs]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4050791"/>
            <a:ext cx="3413455" cy="2331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3977639"/>
            <a:ext cx="3413455" cy="2331720"/>
          </a:xfrm>
          <a:prstGeom prst="rect">
            <a:avLst/>
          </a:prstGeom>
          <a:solidFill>
            <a:srgbClr val="A7F3D0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160519"/>
            <a:ext cx="3047695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C0D0E"/>
                </a:solidFill>
                <a:latin typeface="Arial Black"/>
              </a:defRPr>
            </a:pPr>
            <a:r>
              <a:t>GROUNDED AI INTELLIGENCE</a:t>
            </a:r>
          </a:p>
          <a:p>
            <a:br/>
            <a:pPr>
              <a:defRPr sz="1100">
                <a:solidFill>
                  <a:srgbClr val="0C0D0E"/>
                </a:solidFill>
                <a:latin typeface="Arial"/>
              </a:defRPr>
            </a:pPr>
            <a:r>
              <a:t>Google Gemini 3.5 Flash synthesizes store records and explains restocking urgencies in plain English without hallucination.</a:t>
            </a:r>
            <a:br/>
          </a:p>
          <a:p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[TECH: GEMINI 3.5 FLASH]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4050791"/>
            <a:ext cx="3413455" cy="2331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3977639"/>
            <a:ext cx="3413455" cy="2331720"/>
          </a:xfrm>
          <a:prstGeom prst="rect">
            <a:avLst/>
          </a:prstGeom>
          <a:solidFill>
            <a:srgbClr val="BAE6FD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160519"/>
            <a:ext cx="3047695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C0D0E"/>
                </a:solidFill>
                <a:latin typeface="Arial Black"/>
              </a:defRPr>
            </a:pPr>
            <a:r>
              <a:t>AUTONOMOUS WEB RESEARCH</a:t>
            </a:r>
          </a:p>
          <a:p>
            <a:br/>
            <a:pPr>
              <a:defRPr sz="1100">
                <a:solidFill>
                  <a:srgbClr val="0C0D0E"/>
                </a:solidFill>
                <a:latin typeface="Arial"/>
              </a:defRPr>
            </a:pPr>
            <a:r>
              <a:t>TinyFish browser agent traverses live supplier portals, extracting verified pricing tiers, contact info, and MOQs.</a:t>
            </a:r>
            <a:br/>
          </a:p>
          <a:p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[TECH: TINYFISH AGENT]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FECDD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02/14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THE SMALL BUSINESS OPERATIONAL DILEMMA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764792"/>
            <a:ext cx="5166360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5166360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0976" y="1911095"/>
            <a:ext cx="329184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1874519"/>
            <a:ext cx="3291840" cy="347472"/>
          </a:xfrm>
          <a:prstGeom prst="rect">
            <a:avLst/>
          </a:prstGeom>
          <a:solidFill>
            <a:srgbClr val="FECDD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874519"/>
            <a:ext cx="3291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THE FRAGMENTATION TRAP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31720"/>
            <a:ext cx="48006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Arial Black"/>
              </a:defRPr>
            </a:pPr>
            <a:r>
              <a:t>[X] SCATTERED DATA SILOS</a:t>
            </a:r>
          </a:p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Inventory, sales logs, and supplier chats live across disconnected spreadsheets, paper notes, and WhatsApp threads.</a:t>
            </a:r>
            <a:br/>
          </a:p>
          <a:p>
            <a:pPr>
              <a:defRPr sz="1100" b="1">
                <a:solidFill>
                  <a:srgbClr val="EF4444"/>
                </a:solidFill>
                <a:latin typeface="Arial Black"/>
              </a:defRPr>
            </a:pPr>
            <a:r>
              <a:t>[X] STOCKOUTS CAUGHT TOO LATE</a:t>
            </a:r>
          </a:p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Retailers realize their flagship product is depleted only after a paying customer order fails—sacrificing immediate revenue.</a:t>
            </a:r>
            <a:br/>
          </a:p>
          <a:p>
            <a:pPr>
              <a:defRPr sz="1100" b="1">
                <a:solidFill>
                  <a:srgbClr val="EF4444"/>
                </a:solidFill>
                <a:latin typeface="Arial Black"/>
              </a:defRPr>
            </a:pPr>
            <a:r>
              <a:t>[X] MANUAL SUPPLIER HUNTING</a:t>
            </a:r>
          </a:p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Finding alternative vendors, comparing MOQs, and tracking lead times takes 4-8 hours of manual browser tab hopping.</a:t>
            </a:r>
            <a:br/>
          </a:p>
          <a:p>
            <a:pPr>
              <a:defRPr sz="1100" b="1">
                <a:solidFill>
                  <a:srgbClr val="EF4444"/>
                </a:solidFill>
                <a:latin typeface="Arial Black"/>
              </a:defRPr>
            </a:pPr>
            <a:r>
              <a:t>[X] DISCONNECTED EXECUTION</a:t>
            </a:r>
          </a:p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Insights don't trigger workflows: founders still manually copy-paste SKUs into raw email clients.</a:t>
            </a:r>
            <a:br/>
          </a:p>
        </p:txBody>
      </p:sp>
      <p:sp>
        <p:nvSpPr>
          <p:cNvPr id="17" name="Rectangle 16"/>
          <p:cNvSpPr/>
          <p:nvPr/>
        </p:nvSpPr>
        <p:spPr>
          <a:xfrm>
            <a:off x="6364224" y="1764792"/>
            <a:ext cx="5166360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91072" y="1691640"/>
            <a:ext cx="5166360" cy="4617720"/>
          </a:xfrm>
          <a:prstGeom prst="rect">
            <a:avLst/>
          </a:prstGeom>
          <a:solidFill>
            <a:srgbClr val="FEF08A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1911095"/>
            <a:ext cx="34747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1874519"/>
            <a:ext cx="347472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874519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QUANTIFIED INDUSTRY FRICTION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331720"/>
            <a:ext cx="48006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[!] 40%+ FOUNDER TIME IN ADMIN</a:t>
            </a:r>
          </a:p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U.S. SBA reports early-stage operators spend over one-third of their working week on repetitive manual logistics rather than marketing and revenue generation.</a:t>
            </a:r>
            <a:br/>
          </a:p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[!] $1.1 TRILLION INVENTORY LOSS</a:t>
            </a:r>
          </a:p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National Retail Federation (NRF) and IHL research shows out-of-stocks and overstocks cost global retailers $1.1T annually due to inaccurate run-rate awareness.</a:t>
            </a:r>
            <a:br/>
          </a:p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[!] HIGH SAAS BARRIERS &amp; COST</a:t>
            </a:r>
          </a:p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Enterprise ERPs (SAP, NetSuite) cost $10k+ with months of setup, while generic chatbots lack access to atomic database ledgers.</a:t>
            </a:r>
            <a:b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TARGET AUDIENCE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03/14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TARGET USERS &amp; IMMEDIATE OPERATIONAL USE CASES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764792"/>
            <a:ext cx="3413455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3413455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0976" y="1911096"/>
            <a:ext cx="3047695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1874520"/>
            <a:ext cx="3047695" cy="347472"/>
          </a:xfrm>
          <a:prstGeom prst="rect">
            <a:avLst/>
          </a:prstGeom>
          <a:solidFill>
            <a:srgbClr val="BAE6F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874520"/>
            <a:ext cx="304769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SMALL RETAILERS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31720"/>
            <a:ext cx="304769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PROFILE:</a:t>
            </a:r>
            <a:br/>
            <a:r>
              <a:t>Inventory-driven shops (apparel, packaging, specialty food) with 50-1,000 SKUs needing automated replenishment thresholds.</a:t>
            </a:r>
            <a:br/>
          </a:p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USE CASE: STOCKOUT PREVENTION</a:t>
            </a:r>
            <a:br/>
          </a:p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A packaging brand sells 45 pouches over 3 days. Oppora detects that remaining 28 units will exhaust before the 7-day supplier lead time, flagging an urgent restock recommendation.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62272" y="1764792"/>
            <a:ext cx="3413455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1691640"/>
            <a:ext cx="3413455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08576" y="1911096"/>
            <a:ext cx="3047695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874520"/>
            <a:ext cx="3047695" cy="347472"/>
          </a:xfrm>
          <a:prstGeom prst="rect">
            <a:avLst/>
          </a:prstGeom>
          <a:solidFill>
            <a:srgbClr val="A7F3D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874520"/>
            <a:ext cx="304769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SOLO FOUNDERS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331720"/>
            <a:ext cx="304769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PROFILE:</a:t>
            </a:r>
            <a:br/>
            <a:r>
              <a:t>Early-stage builders managing logistics, sales, marketing, and support without dedicated procurement or analytics staff.</a:t>
            </a:r>
            <a:br/>
          </a:p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USE CASE: ZERO-SPREADSHEET SALES</a:t>
            </a:r>
            <a:br/>
          </a:p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A founder asks: 'Which SKU has highest velocity this week?' Oppora calculates exact run-rates from PostgreSQL transactions and provides a plain-English briefing in 3 seconds.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9872" y="1764792"/>
            <a:ext cx="3413455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1691640"/>
            <a:ext cx="3413455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66176" y="1911096"/>
            <a:ext cx="3047695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874520"/>
            <a:ext cx="3047695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874520"/>
            <a:ext cx="304769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LIGHT MANUFACTURERS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331720"/>
            <a:ext cx="304769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PROFILE:</a:t>
            </a:r>
            <a:br/>
            <a:r>
              <a:t>Teams that assemble or package goods and rely on external suppliers for raw materials and packaging components.</a:t>
            </a:r>
            <a:br/>
          </a:p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USE CASE: SUPPLIER SOURCING</a:t>
            </a:r>
            <a:br/>
          </a:p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Packaging stock is depleted; Oppora dispatches TinyFish to crawl supplier portals, returning verified quotes, minimum order quantities (MOQ), and direct contact links.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PRODUCT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04/14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THE PROPOSED SOLUTION: CLOSED-LOOP COPILOT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1728216"/>
            <a:ext cx="16916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169164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691640"/>
            <a:ext cx="1691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1. STORE RECORDS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8608" y="1728216"/>
            <a:ext cx="16916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691640"/>
            <a:ext cx="169164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42032" y="1691640"/>
            <a:ext cx="1691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2. AI ANALYSIS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728216"/>
            <a:ext cx="16916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2544" y="1691640"/>
            <a:ext cx="169164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1691640"/>
            <a:ext cx="1691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3. WEB RESEARCH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1" y="1728216"/>
            <a:ext cx="16916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3055" y="1691640"/>
            <a:ext cx="169164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5" y="1691640"/>
            <a:ext cx="1691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4. ACTION PROPOSAL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10144" y="1728216"/>
            <a:ext cx="16916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73568" y="1691640"/>
            <a:ext cx="1691640" cy="502920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73568" y="1691640"/>
            <a:ext cx="1691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5. USER APPROVAL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20656" y="1728216"/>
            <a:ext cx="16916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1691640"/>
            <a:ext cx="169164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1691640"/>
            <a:ext cx="1691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6. RECORDED OUTCOME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" y="2487168"/>
            <a:ext cx="5257800" cy="1783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2423160"/>
            <a:ext cx="5257800" cy="1783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976" y="2624328"/>
            <a:ext cx="4892040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2587752"/>
            <a:ext cx="4892040" cy="320040"/>
          </a:xfrm>
          <a:prstGeom prst="rect">
            <a:avLst/>
          </a:prstGeom>
          <a:solidFill>
            <a:srgbClr val="BAE6F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2587752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LIVE INVENTORY LEDGER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2971800"/>
            <a:ext cx="4892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C0D0E"/>
                </a:solidFill>
                <a:latin typeface="Arial"/>
              </a:defRPr>
            </a:pPr>
            <a:r>
              <a:t>Deterministic PostgreSQL stock ledger with atomic RPCs (record_sale, cancel_sale). Real-time run-rate monitoring and zero inventory drift.</a:t>
            </a:r>
          </a:p>
          <a:p>
            <a:br/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[DATABASE: SUPABASE ACID RPCs]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6208" y="2487168"/>
            <a:ext cx="5257800" cy="1783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2423160"/>
            <a:ext cx="5257800" cy="1783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91656" y="2624328"/>
            <a:ext cx="4892040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55080" y="2587752"/>
            <a:ext cx="4892040" cy="320040"/>
          </a:xfrm>
          <a:prstGeom prst="rect">
            <a:avLst/>
          </a:prstGeom>
          <a:solidFill>
            <a:srgbClr val="A7F3D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2587752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GROUNDED OPERATIONS 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971800"/>
            <a:ext cx="4892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C0D0E"/>
                </a:solidFill>
                <a:latin typeface="Arial"/>
              </a:defRPr>
            </a:pPr>
            <a:r>
              <a:t>Google Gemini 3.5 Flash engine retrieves store parameters (lead times, margins, velocity) to explain operational next steps in plain English.</a:t>
            </a:r>
          </a:p>
          <a:p>
            <a:br/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[INTELLIGENCE: GEMINI 3.5 FLASH]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5528" y="4453128"/>
            <a:ext cx="5257800" cy="1783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4389120"/>
            <a:ext cx="5257800" cy="1783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976" y="4590288"/>
            <a:ext cx="4892040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" y="4553712"/>
            <a:ext cx="4892040" cy="320040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553712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TINYFISH WEB AGENT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937760"/>
            <a:ext cx="4892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C0D0E"/>
                </a:solidFill>
                <a:latin typeface="Arial"/>
              </a:defRPr>
            </a:pPr>
            <a:r>
              <a:t>Autonomous browser agent that crawls public supplier websites to extract verified MOQs, catalog pricing, and contact emails with live source URLs.</a:t>
            </a:r>
          </a:p>
          <a:p>
            <a:br/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[RESEARCH: AGENT.TINYFISH.AI]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208" y="4453128"/>
            <a:ext cx="5257800" cy="1783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72200" y="4389120"/>
            <a:ext cx="5257800" cy="1783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91656" y="4590288"/>
            <a:ext cx="4892040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55080" y="4553712"/>
            <a:ext cx="4892040" cy="320040"/>
          </a:xfrm>
          <a:prstGeom prst="rect">
            <a:avLst/>
          </a:prstGeom>
          <a:solidFill>
            <a:srgbClr val="FECDD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4553712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HUMAN-IN-THE-LOOP ACTION CENTRE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937760"/>
            <a:ext cx="4892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C0D0E"/>
                </a:solidFill>
                <a:latin typeface="Arial"/>
              </a:defRPr>
            </a:pPr>
            <a:r>
              <a:t>Strict operational guardrail: AI proposes restocks, price changes, and supplier quote emails, but changes require explicit founder approval.</a:t>
            </a:r>
          </a:p>
          <a:p>
            <a:br/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[GUARDRAIL: ZERO HALLUCINATED ACTIONS]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CONCRETE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05/14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END-TO-END WALKTHROUGH: AUTONOMOUS RESTOCK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737360"/>
            <a:ext cx="10728655" cy="5943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10728655" cy="594360"/>
          </a:xfrm>
          <a:prstGeom prst="rect">
            <a:avLst/>
          </a:prstGeom>
          <a:solidFill>
            <a:srgbClr val="D4F93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C0D0E"/>
                </a:solidFill>
                <a:latin typeface="Arial Black"/>
              </a:defRPr>
            </a:pPr>
            <a:r>
              <a:t>ILLUSTRATIVE CASE: 'Eco Kraft Standup Pouch' (SKU: PKG-ECO-01)  |  Stock: 28 Units  |  Lead Time: 7 Days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2532888"/>
            <a:ext cx="2560320" cy="38404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468880"/>
            <a:ext cx="2560320" cy="38404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" y="2670048"/>
            <a:ext cx="228600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2633472"/>
            <a:ext cx="228600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633472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STAGE 1: SALES LOGGED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POS transactions record 45 units sold in 72 hours. Supabase atomic RPC decrements store stock to 28 units.</a:t>
            </a:r>
          </a:p>
          <a:p>
            <a:br/>
            <a:br/>
            <a:br/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[SYSTEM: POSTGRESQL ACID]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3008" y="2532888"/>
            <a:ext cx="2560320" cy="38404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29000" y="2468880"/>
            <a:ext cx="2560320" cy="38404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02736" y="2670048"/>
            <a:ext cx="228600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66160" y="2633472"/>
            <a:ext cx="2286000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2633472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STAGE 2: GAP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Deterministic math computes 9.2 units/day burn. 28 / 9.2 = 3.0 days of runway remaining vs 7-day supplier lead time (4-day deficit).</a:t>
            </a:r>
          </a:p>
          <a:p>
            <a:br/>
            <a:br/>
            <a:br/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[SYSTEM: TS LOGIC ENGINE]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0488" y="2532888"/>
            <a:ext cx="2560320" cy="38404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2468880"/>
            <a:ext cx="2560320" cy="38404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0216" y="2670048"/>
            <a:ext cx="228600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2633472"/>
            <a:ext cx="2286000" cy="347472"/>
          </a:xfrm>
          <a:prstGeom prst="rect">
            <a:avLst/>
          </a:prstGeom>
          <a:solidFill>
            <a:srgbClr val="BAE6F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2633472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STAGE 3: WEB SOURCING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TinyFish checks primary supplier portal, confirms $2.20/unit @ 150 MOQ, and Gemini pre-drafts quote email inquiry.</a:t>
            </a:r>
          </a:p>
          <a:p>
            <a:br/>
            <a:br/>
            <a:br/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[SYSTEM: TINYFISH + GEMINI]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87968" y="2532888"/>
            <a:ext cx="2560320" cy="38404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23960" y="2468880"/>
            <a:ext cx="2560320" cy="38404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97696" y="2670048"/>
            <a:ext cx="228600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1120" y="2633472"/>
            <a:ext cx="2286000" cy="347472"/>
          </a:xfrm>
          <a:prstGeom prst="rect">
            <a:avLst/>
          </a:prstGeom>
          <a:solidFill>
            <a:srgbClr val="A7F3D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0" y="2633472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STAGE 4: FOUNDER APPROVAL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C0D0E"/>
                </a:solidFill>
                <a:latin typeface="Arial"/>
              </a:defRPr>
            </a:pPr>
            <a:r>
              <a:t>Founder reviews restock proposal in Action Centre, verifies draft email, clicks 'Approve Order', writing persistent PO.</a:t>
            </a:r>
          </a:p>
          <a:p>
            <a:br/>
            <a:br/>
            <a:br/>
            <a:pPr>
              <a:defRPr sz="900" b="1">
                <a:solidFill>
                  <a:srgbClr val="000000"/>
                </a:solidFill>
                <a:latin typeface="Consolas"/>
              </a:defRPr>
            </a:pPr>
            <a:r>
              <a:t>[SYSTEM: FOUNDER APPROVAL]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AI &amp; MACHINE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06/14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AI ARCHITECTURE: GENERATIVE AI VS DETERMINISTIC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764792"/>
            <a:ext cx="3413455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3413455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0976" y="1911096"/>
            <a:ext cx="3047695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1874520"/>
            <a:ext cx="3047695" cy="365760"/>
          </a:xfrm>
          <a:prstGeom prst="rect">
            <a:avLst/>
          </a:prstGeom>
          <a:solidFill>
            <a:srgbClr val="A7F3D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87452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GENERATIVE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31720"/>
            <a:ext cx="304769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Consolas"/>
              </a:defRPr>
            </a:pPr>
            <a:r>
              <a:t>ENGINE: Google Gemini 3.5 Flash</a:t>
            </a:r>
            <a:br/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Translates plain English queries into operational insights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Summarizes complex inventory logs and sales patterns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Drafts personalized supplier inquiry and RFQ emails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Explains mathematical reasoning for restock urgency</a:t>
            </a:r>
          </a:p>
          <a:p>
            <a:pPr>
              <a:defRPr sz="950" b="1">
                <a:solidFill>
                  <a:srgbClr val="EF4444"/>
                </a:solidFill>
                <a:latin typeface="Arial"/>
              </a:defRPr>
            </a:pPr>
            <a:r>
              <a:t>[!] STRICT BOUNDARY: Does not calculate financial or inventory balances directly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62272" y="1764792"/>
            <a:ext cx="3413455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1691640"/>
            <a:ext cx="3413455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08576" y="1911096"/>
            <a:ext cx="3047695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874520"/>
            <a:ext cx="3047695" cy="365760"/>
          </a:xfrm>
          <a:prstGeom prst="rect">
            <a:avLst/>
          </a:prstGeom>
          <a:solidFill>
            <a:srgbClr val="BAE6F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87452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DETERMINISTIC LOGIC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331720"/>
            <a:ext cx="304769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Consolas"/>
              </a:defRPr>
            </a:pPr>
            <a:r>
              <a:t>ENGINE: TypeScript &amp; PostgreSQL</a:t>
            </a:r>
            <a:br/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Calculates reorder points: Safety Stock + Lead Time Demand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Enforces ACID consistency across sales and stock ledgers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Guarantees multi-tenant data isolation with RLS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Prevents hallucination by supplying verified store context</a:t>
            </a:r>
          </a:p>
          <a:p>
            <a:pPr>
              <a:defRPr sz="950" b="1">
                <a:solidFill>
                  <a:srgbClr val="EF4444"/>
                </a:solidFill>
                <a:latin typeface="Arial"/>
              </a:defRPr>
            </a:pPr>
            <a:r>
              <a:t>[!] STRICT BOUNDARY: Non-negotiable transaction source of truth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9872" y="1764792"/>
            <a:ext cx="3413455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1691640"/>
            <a:ext cx="3413455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66176" y="1911096"/>
            <a:ext cx="3047695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874520"/>
            <a:ext cx="3047695" cy="365760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87452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PREDICTIVE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331720"/>
            <a:ext cx="304769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Consolas"/>
              </a:defRPr>
            </a:pPr>
            <a:r>
              <a:t>ENGINE: Proposed Phase 2 Roadmap</a:t>
            </a:r>
            <a:br/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Time-series demand forecasting (Prophet / ARIMA)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Dynamic supplier lead-time drift estimation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Seasonal stocking recommendations based on historical cycles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Automated anomaly detection for sudden sales drop-offs</a:t>
            </a:r>
          </a:p>
          <a:p>
            <a:pPr>
              <a:defRPr sz="950" b="1">
                <a:solidFill>
                  <a:srgbClr val="EF4444"/>
                </a:solidFill>
                <a:latin typeface="Arial"/>
              </a:defRPr>
            </a:pPr>
            <a:r>
              <a:t>[!] STRICT BOUNDARY: Requires 6+ months of historical business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TECHNICAL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07/14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SYSTEM ARCHITECTURE: MULTI-TIER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1728216"/>
            <a:ext cx="10728655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10728655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5256" y="1837944"/>
            <a:ext cx="265176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1801368"/>
            <a:ext cx="2651760" cy="438912"/>
          </a:xfrm>
          <a:prstGeom prst="rect">
            <a:avLst/>
          </a:prstGeom>
          <a:solidFill>
            <a:srgbClr val="BAE6F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801368"/>
            <a:ext cx="26517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1. PRESENTATION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764792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C0D0E"/>
                </a:solidFill>
                <a:latin typeface="Arial"/>
              </a:defRPr>
            </a:pPr>
            <a:r>
              <a:t>Next.js 14 App Router, React 18, Tailwind CSS, Lucide 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7696" y="1837944"/>
            <a:ext cx="233172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801368"/>
            <a:ext cx="2331720" cy="43891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801368"/>
            <a:ext cx="2331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0C0D0E"/>
                </a:solidFill>
                <a:latin typeface="Arial Black"/>
              </a:defRPr>
            </a:pPr>
            <a:r>
              <a:t>[IMPLEMENTED &amp; VERIFIED]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" y="2478024"/>
            <a:ext cx="10728655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441448"/>
            <a:ext cx="10728655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" y="2587752"/>
            <a:ext cx="265176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2551176"/>
            <a:ext cx="2651760" cy="438912"/>
          </a:xfrm>
          <a:prstGeom prst="rect">
            <a:avLst/>
          </a:prstGeom>
          <a:solidFill>
            <a:srgbClr val="BAE6F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2551176"/>
            <a:ext cx="26517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2. APPLICATION &amp; API TIER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514600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C0D0E"/>
                </a:solidFill>
                <a:latin typeface="Arial"/>
              </a:defRPr>
            </a:pPr>
            <a:r>
              <a:t>Next.js Route Handlers, Tenant Auth Resolver, Deterministic Reorder Engine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97696" y="2587752"/>
            <a:ext cx="233172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61120" y="2551176"/>
            <a:ext cx="2331720" cy="43891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2551176"/>
            <a:ext cx="2331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0C0D0E"/>
                </a:solidFill>
                <a:latin typeface="Arial Black"/>
              </a:defRPr>
            </a:pPr>
            <a:r>
              <a:t>[IMPLEMENTED &amp; VERIFIED]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" y="3227832"/>
            <a:ext cx="10728655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3191256"/>
            <a:ext cx="10728655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256" y="3337560"/>
            <a:ext cx="265176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68680" y="3300984"/>
            <a:ext cx="2651760" cy="438912"/>
          </a:xfrm>
          <a:prstGeom prst="rect">
            <a:avLst/>
          </a:prstGeom>
          <a:solidFill>
            <a:srgbClr val="A7F3D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300984"/>
            <a:ext cx="26517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3. OPERATIONAL DATA TIER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264408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C0D0E"/>
                </a:solidFill>
                <a:latin typeface="Arial"/>
              </a:defRPr>
            </a:pPr>
            <a:r>
              <a:t>Supabase PostgreSQL, Row-Level Security (RLS), 12 Relational Tables, Atomic RPCs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97696" y="3337560"/>
            <a:ext cx="233172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61120" y="3300984"/>
            <a:ext cx="2331720" cy="43891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0" y="3300984"/>
            <a:ext cx="2331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0C0D0E"/>
                </a:solidFill>
                <a:latin typeface="Arial Black"/>
              </a:defRPr>
            </a:pPr>
            <a:r>
              <a:t>[IMPLEMENTED &amp; VERIFIED]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8096" y="3977640"/>
            <a:ext cx="10728655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3941064"/>
            <a:ext cx="10728655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5256" y="4087368"/>
            <a:ext cx="265176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8680" y="4050792"/>
            <a:ext cx="2651760" cy="438912"/>
          </a:xfrm>
          <a:prstGeom prst="rect">
            <a:avLst/>
          </a:prstGeom>
          <a:solidFill>
            <a:srgbClr val="A7F3D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4050792"/>
            <a:ext cx="26517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4. INTELLIGENCE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014216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C0D0E"/>
                </a:solidFill>
                <a:latin typeface="Arial"/>
              </a:defRPr>
            </a:pPr>
            <a:r>
              <a:t>Google Gemini 3.5 Flash, Grounded Prompt Synthesis, Natural Language Copilot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97696" y="4087368"/>
            <a:ext cx="233172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61120" y="4050792"/>
            <a:ext cx="2331720" cy="43891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61120" y="4050792"/>
            <a:ext cx="2331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0C0D0E"/>
                </a:solidFill>
                <a:latin typeface="Arial Black"/>
              </a:defRPr>
            </a:pPr>
            <a:r>
              <a:t>[IMPLEMENTED &amp; VERIFIED]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8096" y="4727448"/>
            <a:ext cx="10728655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1520" y="4690872"/>
            <a:ext cx="10728655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5256" y="4837176"/>
            <a:ext cx="265176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8680" y="4800600"/>
            <a:ext cx="2651760" cy="43891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" y="4800600"/>
            <a:ext cx="26517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5. WEB INTELLIGENCE TIER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764024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C0D0E"/>
                </a:solidFill>
                <a:latin typeface="Arial"/>
              </a:defRPr>
            </a:pPr>
            <a:r>
              <a:t>TinyFish Autonomous Web Agent, Dynamic DOM Scraping, Supplier Catalog Extraction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97696" y="4837176"/>
            <a:ext cx="233172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61120" y="4800600"/>
            <a:ext cx="2331720" cy="43891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61120" y="4800600"/>
            <a:ext cx="2331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0C0D0E"/>
                </a:solidFill>
                <a:latin typeface="Arial Black"/>
              </a:defRPr>
            </a:pPr>
            <a:r>
              <a:t>[IMPLEMENTED &amp; VERIFIED]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8096" y="5477255"/>
            <a:ext cx="10728655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31520" y="5440679"/>
            <a:ext cx="10728655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05256" y="5586983"/>
            <a:ext cx="265176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8680" y="5550407"/>
            <a:ext cx="2651760" cy="43891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" y="5550407"/>
            <a:ext cx="26517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C0D0E"/>
                </a:solidFill>
                <a:latin typeface="Arial Black"/>
              </a:defRPr>
            </a:pPr>
            <a:r>
              <a:t>6. ACTION &amp; AUDIT TIER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0" y="5513831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C0D0E"/>
                </a:solidFill>
                <a:latin typeface="Arial"/>
              </a:defRPr>
            </a:pPr>
            <a:r>
              <a:t>Human-in-the-Loop Action Centre, Email Dispatcher, Immutable Activity Audit Logs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97696" y="5586983"/>
            <a:ext cx="2331720" cy="43891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61120" y="5550407"/>
            <a:ext cx="2331720" cy="43891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61120" y="5550407"/>
            <a:ext cx="2331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0C0D0E"/>
                </a:solidFill>
                <a:latin typeface="Arial Black"/>
              </a:defRPr>
            </a:pPr>
            <a:r>
              <a:t>[IMPLEMENTED &amp; VERIFIED]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WEB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08/14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TINYFISH INTEGRATION: AUTONOMOUS WEB INTELLIGENCE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764792"/>
            <a:ext cx="5166360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5166360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0976" y="1911095"/>
            <a:ext cx="34747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1874519"/>
            <a:ext cx="34747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874519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TINYFISH AGENT CAPABILITIES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31720"/>
            <a:ext cx="48006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[&gt;] AUTONOMOUS BROWSER TRAVERSAL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Executes multi-step browser interactions across dynamic manufacturer catalogs, supplier directories, and trade portals without brittle static scrapers.</a:t>
            </a:r>
            <a:br/>
          </a:p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[&gt;] DYNAMIC EXTRACTION &amp; NORMALIZATION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Extracts structured pricing tiers, minimum order quantities (MOQs), contact email addresses, and verified lead times.</a:t>
            </a:r>
            <a:br/>
          </a:p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[&gt;] FULL SOURCE ATTRIBUTABILITY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Returns verifiable source URLs and scrape timestamps, preventing hallucinated vendor contact information.</a:t>
            </a:r>
            <a:br/>
          </a:p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[&gt;] DATA ISOLATION ARCHITECTURE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TinyFish never touches private customer records or sales history; it operates exclusively on public web endpoints.</a:t>
            </a:r>
            <a:br/>
          </a:p>
        </p:txBody>
      </p:sp>
      <p:sp>
        <p:nvSpPr>
          <p:cNvPr id="17" name="Rectangle 16"/>
          <p:cNvSpPr/>
          <p:nvPr/>
        </p:nvSpPr>
        <p:spPr>
          <a:xfrm>
            <a:off x="6364224" y="1764792"/>
            <a:ext cx="5166360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91072" y="1691640"/>
            <a:ext cx="5166360" cy="4617720"/>
          </a:xfrm>
          <a:prstGeom prst="rect">
            <a:avLst/>
          </a:prstGeom>
          <a:solidFill>
            <a:srgbClr val="BAE6FD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1911095"/>
            <a:ext cx="34747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1874519"/>
            <a:ext cx="347472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874519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VERIFIED EXECUTION 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331720"/>
            <a:ext cx="48006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1. RESTOCK ALERT TRIGGER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Founder asks: 'Find local compostable mailer suppliers' or low stock triggers auto-search.</a:t>
            </a:r>
            <a:br/>
          </a:p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2. API DISPATCH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Oppora posts structured request to `https://agent.tinyfish.ai/v1/automation/run`.</a:t>
            </a:r>
            <a:br/>
          </a:p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3. HEADLESS TRAVERSAL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TinyFish cloud agent searches catalogs and navigates vendor pages dynamically.</a:t>
            </a:r>
            <a:br/>
          </a:p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4. STRUCTURED EXTRACTION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API returns verified JSON payload containing vendor name, website, MOQ, price, and email.</a:t>
            </a:r>
            <a:br/>
          </a:p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5. GROUNDED PRESENTATION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Oppora renders interactive supplier cards with clickable source links in the UI.</a:t>
            </a:r>
            <a:br/>
          </a:p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6. 1-CLICK PROCUREMENT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Founder clicks 'Draft Inquiry' to pre-populate an editable quotation request.</a:t>
            </a:r>
            <a:b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IMPACT &amp;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09/14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EXPECTED OPERATIONAL IMPACT &amp; MEASUREMENT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1746504"/>
            <a:ext cx="3413455" cy="1371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3413455" cy="1371600"/>
          </a:xfrm>
          <a:prstGeom prst="rect">
            <a:avLst/>
          </a:prstGeom>
          <a:solidFill>
            <a:srgbClr val="D4F93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737360"/>
            <a:ext cx="31391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C0D0E"/>
                </a:solidFill>
                <a:latin typeface="Arial Black"/>
              </a:defRPr>
            </a:pPr>
            <a:r>
              <a:t>70% FASTER SOURCING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Reduces vendor discovery and MOQ research from 3-4 hours of manual tab-hopping to under 2 minutes of autonomous execution.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4" y="1746504"/>
            <a:ext cx="3413455" cy="1371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691640"/>
            <a:ext cx="3413455" cy="1371600"/>
          </a:xfrm>
          <a:prstGeom prst="rect">
            <a:avLst/>
          </a:prstGeom>
          <a:solidFill>
            <a:srgbClr val="A7F3D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737360"/>
            <a:ext cx="31391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C0D0E"/>
                </a:solidFill>
                <a:latin typeface="Arial Black"/>
              </a:defRPr>
            </a:pPr>
            <a:r>
              <a:t>ZERO UNPLANNED STOCKOUTS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Proactive run-rate alerts trigger 5-7 days before depletion, protecting against lost e-commerce revenue.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4" y="1746504"/>
            <a:ext cx="3413455" cy="1371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691640"/>
            <a:ext cx="3413455" cy="1371600"/>
          </a:xfrm>
          <a:prstGeom prst="rect">
            <a:avLst/>
          </a:prstGeom>
          <a:solidFill>
            <a:srgbClr val="FEF08A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737360"/>
            <a:ext cx="31391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C0D0E"/>
                </a:solidFill>
                <a:latin typeface="Arial Black"/>
              </a:defRPr>
            </a:pPr>
            <a:r>
              <a:t>5-10 HOURS SAVED / WEEK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Replaces manual spreadsheet cross-referencing and PO drafting with a unified 1-click Action Centre.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31520" y="329184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3017520"/>
                <a:gridCol w="2956255"/>
              </a:tblGrid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4F932"/>
                          </a:solidFill>
                          <a:latin typeface="Arial Black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C0D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4F932"/>
                          </a:solidFill>
                          <a:latin typeface="Arial Black"/>
                        </a:defRPr>
                      </a:pPr>
                      <a:r>
                        <a:t>MANUAL BASELINE</a:t>
                      </a:r>
                    </a:p>
                  </a:txBody>
                  <a:tcPr>
                    <a:solidFill>
                      <a:srgbClr val="0C0D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4F932"/>
                          </a:solidFill>
                          <a:latin typeface="Arial Black"/>
                        </a:defRPr>
                      </a:pPr>
                      <a:r>
                        <a:t>OPPORA TARGET</a:t>
                      </a:r>
                    </a:p>
                  </a:txBody>
                  <a:tcPr>
                    <a:solidFill>
                      <a:srgbClr val="0C0D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4F932"/>
                          </a:solidFill>
                          <a:latin typeface="Arial Black"/>
                        </a:defRPr>
                      </a:pPr>
                      <a:r>
                        <a:t>MEASUREMENT PROTOCOL</a:t>
                      </a:r>
                    </a:p>
                  </a:txBody>
                  <a:tcPr>
                    <a:solidFill>
                      <a:srgbClr val="0C0D0E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Supplier Discovery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3-4 hours per vendor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&lt; 2 minutes per automated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Logged API duration from query to structured cards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Stockout Incident Rate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Reactive alerts after stock depletion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Zero unplanned stockouts on tracked SKUs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Track count of stockout events vs. proactive alerts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Reorder Decision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24-48 hours from awareness to 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&lt; 5 minutes from alert to approved 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Timestamps from action proposal to user approval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Inventory Ledger Accuracy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Frequent sync drift across sheets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100% atomic consistency across transactions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Automated reconciliation checks on Supabase RPCs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IMPLEMENTATION STATUS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10/14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FEASIBILITY &amp; IMPLEMENTATION STATUS: VERIFIED CODEBASE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737360"/>
            <a:ext cx="10728655" cy="5943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10728655" cy="594360"/>
          </a:xfrm>
          <a:prstGeom prst="rect">
            <a:avLst/>
          </a:prstGeom>
          <a:solidFill>
            <a:srgbClr val="D4F93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C0D0E"/>
                </a:solidFill>
                <a:latin typeface="Arial Black"/>
              </a:defRPr>
            </a:pPr>
            <a:r>
              <a:t>VERIFIED AUDIT STATUS: 99 / 99 Automated Tests Passing  |  44 Production Routes Compiled  |  Zero Lint/Type Errors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2423160"/>
          <a:ext cx="107286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011680"/>
                <a:gridCol w="4114800"/>
                <a:gridCol w="2041855"/>
              </a:tblGrid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4F932"/>
                          </a:solidFill>
                          <a:latin typeface="Arial Black"/>
                        </a:defRPr>
                      </a:pPr>
                      <a:r>
                        <a:t>MODULE / CAPABILITY</a:t>
                      </a:r>
                    </a:p>
                  </a:txBody>
                  <a:tcPr>
                    <a:solidFill>
                      <a:srgbClr val="0C0D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4F932"/>
                          </a:solidFill>
                          <a:latin typeface="Arial Black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C0D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4F932"/>
                          </a:solidFill>
                          <a:latin typeface="Arial Black"/>
                        </a:defRPr>
                      </a:pPr>
                      <a:r>
                        <a:t>TECHNICAL IMPLEMENTATION &amp; EVIDENCE</a:t>
                      </a:r>
                    </a:p>
                  </a:txBody>
                  <a:tcPr>
                    <a:solidFill>
                      <a:srgbClr val="0C0D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4F932"/>
                          </a:solidFill>
                          <a:latin typeface="Arial Black"/>
                        </a:defRPr>
                      </a:pPr>
                      <a:r>
                        <a:t>OPERATIONAL RISK</a:t>
                      </a:r>
                    </a:p>
                  </a:txBody>
                  <a:tcPr>
                    <a:solidFill>
                      <a:srgbClr val="0C0D0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Inventory &amp; Stock Ledger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IMPLEMENTED &amp; 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12 Supabase tables, atomic RPCs (record_sale, cancel_sale), pass rate: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ZERO (ACID PROTECTED)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Multi-Tenant Security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IMPLEMENTED &amp; VERIFIED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Strict tenant_id session verification; production header injection blocked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MITIGATED (TESTED)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Google Gemini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IMPLEMENTED &amp; 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Live Gemini 3.5 Flash operational; contextual fallback cascade enabled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LOW (GRACEFUL DEGRADATION)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TinyFish Web Agent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IMPLEMENTED &amp; VERIFIED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Live endpoint agent.tinyfish.ai verified; 1-click supplier shortcut in table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LOW (VERIFIED HTTP 200)</a:t>
                      </a:r>
                    </a:p>
                  </a:txBody>
                  <a:tcPr>
                    <a:solidFill>
                      <a:srgbClr val="F6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Action Centre &amp; 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IMPLEMENTED &amp; 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Pending action approvals, editable email modal, activity logging 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0D0E"/>
                          </a:solidFill>
                          <a:latin typeface="Arial"/>
                        </a:defRPr>
                      </a:pPr>
                      <a:r>
                        <a:t>ZERO (HUMAN CONTROL)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DIFFERENTIATION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11/14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COMPETITIVE DIFFERENTIATION: THE CLOSED-LOOP ADVANTAGE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764792"/>
            <a:ext cx="2560320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2560320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5256" y="1892808"/>
            <a:ext cx="228600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1856232"/>
            <a:ext cx="2286000" cy="347472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856232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 Black"/>
              </a:defRPr>
            </a:pPr>
            <a:r>
              <a:t>TRADITIONAL ERPS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286000"/>
            <a:ext cx="22860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C0D0E"/>
                </a:solidFill>
                <a:latin typeface="Consolas"/>
              </a:defRPr>
            </a:pPr>
            <a:r>
              <a:t>SAP / NetSuite</a:t>
            </a:r>
            <a:br/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Prohibitive cost ($10k-$50k/year)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3-6 months implementation cycle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No autonomous web intelligence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Overwhelming UI for lean teams</a:t>
            </a:r>
          </a:p>
          <a:p>
            <a:pPr>
              <a:defRPr sz="950" b="1">
                <a:solidFill>
                  <a:srgbClr val="0C0D0E"/>
                </a:solidFill>
                <a:latin typeface="Arial"/>
              </a:defRPr>
            </a:pPr>
            <a:r>
              <a:t>[V] Robust accounting 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02152" y="1764792"/>
            <a:ext cx="2560320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29000" y="1691640"/>
            <a:ext cx="2560320" cy="4617720"/>
          </a:xfrm>
          <a:prstGeom prst="rect">
            <a:avLst/>
          </a:prstGeom>
          <a:solidFill>
            <a:srgbClr val="FECDD3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02736" y="1892808"/>
            <a:ext cx="228600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66160" y="1856232"/>
            <a:ext cx="2286000" cy="347472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1856232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 Black"/>
              </a:defRPr>
            </a:pPr>
            <a:r>
              <a:t>STANDALONE CHATBOTS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286000"/>
            <a:ext cx="22860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C0D0E"/>
                </a:solidFill>
                <a:latin typeface="Consolas"/>
              </a:defRPr>
            </a:pPr>
            <a:r>
              <a:t>ChatGPT / Claude</a:t>
            </a:r>
            <a:br/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No connection to real-time stock ledger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Hallucinates inventory quantities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Cannot execute transactional updates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No multi-tenant database isolation</a:t>
            </a:r>
          </a:p>
          <a:p>
            <a:pPr>
              <a:defRPr sz="950" b="1">
                <a:solidFill>
                  <a:srgbClr val="0C0D0E"/>
                </a:solidFill>
                <a:latin typeface="Arial"/>
              </a:defRPr>
            </a:pPr>
            <a:r>
              <a:t>[V] High general linguistic fluency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1764792"/>
            <a:ext cx="2560320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1691640"/>
            <a:ext cx="2560320" cy="4617720"/>
          </a:xfrm>
          <a:prstGeom prst="rect">
            <a:avLst/>
          </a:prstGeom>
          <a:solidFill>
            <a:srgbClr val="FEF08A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0216" y="1892808"/>
            <a:ext cx="228600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 Black"/>
              </a:defRPr>
            </a:pPr>
            <a:r>
              <a:t>SPREADSHEETS &amp; SAAS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286000"/>
            <a:ext cx="22860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C0D0E"/>
                </a:solidFill>
                <a:latin typeface="Consolas"/>
              </a:defRPr>
            </a:pPr>
            <a:r>
              <a:t>Excel / Airtable / Sortly</a:t>
            </a:r>
            <a:br/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Disconnected from supplier websites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Zero predictive run-rate alerts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Manual copy-pasting for reorders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[X] Prone to accidental overwrites</a:t>
            </a:r>
          </a:p>
          <a:p>
            <a:pPr>
              <a:defRPr sz="950" b="1">
                <a:solidFill>
                  <a:srgbClr val="0C0D0E"/>
                </a:solidFill>
                <a:latin typeface="Arial"/>
              </a:defRPr>
            </a:pPr>
            <a:r>
              <a:t>[V] Familiar low-cost interface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97112" y="1764792"/>
            <a:ext cx="2560320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23960" y="1691640"/>
            <a:ext cx="2560320" cy="4617720"/>
          </a:xfrm>
          <a:prstGeom prst="rect">
            <a:avLst/>
          </a:prstGeom>
          <a:solidFill>
            <a:srgbClr val="D4F932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97696" y="1892808"/>
            <a:ext cx="228600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61120" y="1856232"/>
            <a:ext cx="2286000" cy="347472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0" y="1856232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 Black"/>
              </a:defRPr>
            </a:pPr>
            <a:r>
              <a:t>OPPORA COPILOT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2286000"/>
            <a:ext cx="22860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C0D0E"/>
                </a:solidFill>
                <a:latin typeface="Consolas"/>
              </a:defRPr>
            </a:pPr>
            <a:r>
              <a:t>Closed-Loop System</a:t>
            </a:r>
            <a:br/>
          </a:p>
          <a:p>
            <a:pPr>
              <a:defRPr sz="950" b="1">
                <a:solidFill>
                  <a:srgbClr val="0C0D0E"/>
                </a:solidFill>
                <a:latin typeface="Arial"/>
              </a:defRPr>
            </a:pPr>
            <a:r>
              <a:t>[V] Live PostgreSQL transactional ledger</a:t>
            </a:r>
          </a:p>
          <a:p>
            <a:pPr>
              <a:defRPr sz="950" b="1">
                <a:solidFill>
                  <a:srgbClr val="0C0D0E"/>
                </a:solidFill>
                <a:latin typeface="Arial"/>
              </a:defRPr>
            </a:pPr>
            <a:r>
              <a:t>[V] Grounded Gemini natural language analysis</a:t>
            </a:r>
          </a:p>
          <a:p>
            <a:pPr>
              <a:defRPr sz="950" b="1">
                <a:solidFill>
                  <a:srgbClr val="0C0D0E"/>
                </a:solidFill>
                <a:latin typeface="Arial"/>
              </a:defRPr>
            </a:pPr>
            <a:r>
              <a:t>[V] Autonomous TinyFish supplier discovery</a:t>
            </a:r>
          </a:p>
          <a:p>
            <a:pPr>
              <a:defRPr sz="950" b="1">
                <a:solidFill>
                  <a:srgbClr val="0C0D0E"/>
                </a:solidFill>
                <a:latin typeface="Arial"/>
              </a:defRPr>
            </a:pPr>
            <a:r>
              <a:t>[V] Action Centre with human-in-the-loop control</a:t>
            </a:r>
          </a:p>
          <a:p>
            <a:pPr>
              <a:defRPr sz="950" b="1">
                <a:solidFill>
                  <a:srgbClr val="0C0D0E"/>
                </a:solidFill>
                <a:latin typeface="Arial"/>
              </a:defRPr>
            </a:pPr>
            <a:r>
              <a:t>[V] Purpose-built for agile founders &amp; SMBs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STRATEGIC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12/14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STRATEGIC ROADMAP: CORE TO AUTONOMOUS ECOSYSTEM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764792"/>
            <a:ext cx="3413455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3413455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0976" y="1911096"/>
            <a:ext cx="3047695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1874520"/>
            <a:ext cx="3047695" cy="365760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87452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PHASE 1: OPERATIONAL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31720"/>
            <a:ext cx="304769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Consolas"/>
              </a:defRPr>
            </a:pPr>
            <a:r>
              <a:t>Current Hackathon Benchmark [COMPLETED]</a:t>
            </a:r>
            <a:br/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Multi-tenant Supabase PostgreSQL architecture with RLS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Atomic inventory ledger with sales &amp; restock transactions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Google Gemini 3.5 Flash contextual copilot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TinyFish autonomous web research agent for suppliers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Action Centre with human-in-the-loop email drafts &amp; approvals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- 99/99 automated tests passing across 44 production routes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62272" y="1764792"/>
            <a:ext cx="3413455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1691640"/>
            <a:ext cx="3413455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08576" y="1911096"/>
            <a:ext cx="3047695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874520"/>
            <a:ext cx="3047695" cy="365760"/>
          </a:xfrm>
          <a:prstGeom prst="rect">
            <a:avLst/>
          </a:prstGeom>
          <a:solidFill>
            <a:srgbClr val="BAE6F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87452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PHASE 2: PREDICTIVE INTEL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331720"/>
            <a:ext cx="304769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Consolas"/>
              </a:defRPr>
            </a:pPr>
            <a:r>
              <a:t>Target: Next 3-6 Months [PROPOSED]</a:t>
            </a:r>
            <a:br/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Statistical time-series demand forecasting (Prophet / ARIMA)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Dynamic supplier lead-time drift &amp; reliability scoring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Multi-warehouse &amp; retail store transfer balancing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Automated reorder threshold tuning based on seasonal trends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Batch PO generation across multiple preferred suppliers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Granular team permissions (Owner, Manager, Auditor)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9872" y="1764792"/>
            <a:ext cx="3413455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1691640"/>
            <a:ext cx="3413455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66176" y="1911096"/>
            <a:ext cx="3047695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874520"/>
            <a:ext cx="3047695" cy="365760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87452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PHASE 3: CONNECTED 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331720"/>
            <a:ext cx="304769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Consolas"/>
              </a:defRPr>
            </a:pPr>
            <a:r>
              <a:t>Target: Next 6-12 Months [PROPOSED]</a:t>
            </a:r>
            <a:br/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Bi-directional Shopify, Amazon, and WooCommerce sync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Accounting integrations (QuickBooks, Xero, Stripe)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Multi-agent automated quotation negotiation via TinyFish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Real-time carrier tracking (FedEx, UPS, Freight)</a:t>
            </a:r>
          </a:p>
          <a:p>
            <a:pPr>
              <a:defRPr sz="950">
                <a:solidFill>
                  <a:srgbClr val="0C0D0E"/>
                </a:solidFill>
                <a:latin typeface="Arial"/>
              </a:defRPr>
            </a:pPr>
            <a:r>
              <a:t>- Autonomous capital &amp; working line of credit discovery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13/14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CONCLUSION: EMPOWERING FOUNDERS TO GROW FURTHER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" y="1773936"/>
            <a:ext cx="10728655" cy="1600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10728655" cy="1600200"/>
          </a:xfrm>
          <a:prstGeom prst="rect">
            <a:avLst/>
          </a:prstGeom>
          <a:solidFill>
            <a:srgbClr val="D4F932"/>
          </a:solidFill>
          <a:ln w="444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C0D0E"/>
                </a:solidFill>
                <a:latin typeface="Arial Black"/>
              </a:defRPr>
            </a:pPr>
            <a:r>
              <a:t>"Oppora replaces the chaos of disconnected spreadsheets and reactive fire-fighting with a unified, verified operational copilot—connecting live inventory data, grounded AI reasoning, and autonomous web intelligence."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" y="3639312"/>
            <a:ext cx="3413455" cy="2743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3413455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0976" y="3785616"/>
            <a:ext cx="3047695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749040"/>
            <a:ext cx="3047695" cy="365760"/>
          </a:xfrm>
          <a:prstGeom prst="rect">
            <a:avLst/>
          </a:prstGeom>
          <a:solidFill>
            <a:srgbClr val="BAE6F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4904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UNIFIED OPERATIONAL TRUTH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06240"/>
            <a:ext cx="30476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C0D0E"/>
                </a:solidFill>
                <a:latin typeface="Arial"/>
              </a:defRPr>
            </a:pPr>
            <a:r>
              <a:t>All stock levels, sales velocity, and supplier interactions live in a single ACID-compliant database ledger.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639312"/>
            <a:ext cx="3413455" cy="2743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0" y="3566160"/>
            <a:ext cx="3413455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8576" y="3785616"/>
            <a:ext cx="3047695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0" y="3749040"/>
            <a:ext cx="3047695" cy="365760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74904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AUTONOMOUS EXTERNAL REACH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06240"/>
            <a:ext cx="30476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C0D0E"/>
                </a:solidFill>
                <a:latin typeface="Arial"/>
              </a:defRPr>
            </a:pPr>
            <a:r>
              <a:t>TinyFish extends the founder's awareness beyond internal spreadsheets into the live, evolving web.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9872" y="3639312"/>
            <a:ext cx="3413455" cy="2743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3566160"/>
            <a:ext cx="3413455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66176" y="3785616"/>
            <a:ext cx="3047695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749040"/>
            <a:ext cx="3047695" cy="365760"/>
          </a:xfrm>
          <a:prstGeom prst="rect">
            <a:avLst/>
          </a:prstGeom>
          <a:solidFill>
            <a:srgbClr val="A7F3D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904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FOUNDER IN COMPLETE 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06240"/>
            <a:ext cx="30476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C0D0E"/>
                </a:solidFill>
                <a:latin typeface="Arial"/>
              </a:defRPr>
            </a:pPr>
            <a:r>
              <a:t>Deterministic business rules and human approvals prevent AI hallucination and operational errors.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84048"/>
            <a:ext cx="25603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solidFill>
            <a:srgbClr val="D4F93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LINKS &amp;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06456" y="384048"/>
            <a:ext cx="987552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solidFill>
            <a:srgbClr val="FEF08A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347472"/>
            <a:ext cx="987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14/14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C0D0E"/>
                </a:solidFill>
                <a:latin typeface="Arial Black"/>
              </a:defRPr>
            </a:pPr>
            <a:r>
              <a:t>LINKS &amp; RESEARCH: OFFICIAL SOURCES &amp; CITATIONS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444752"/>
            <a:ext cx="10728655" cy="3657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764792"/>
            <a:ext cx="5166360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691640"/>
            <a:ext cx="5166360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0976" y="1911095"/>
            <a:ext cx="34747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1874519"/>
            <a:ext cx="3474720" cy="347472"/>
          </a:xfrm>
          <a:prstGeom prst="rect">
            <a:avLst/>
          </a:prstGeom>
          <a:solidFill>
            <a:srgbClr val="BAE6F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874519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CORE TECHNOLOGY DOCUMENTATION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31720"/>
            <a:ext cx="48006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[LINK] TINYFISH WEB AGENT API</a:t>
            </a:r>
          </a:p>
          <a:p>
            <a:pPr>
              <a:defRPr sz="850" b="1">
                <a:solidFill>
                  <a:srgbClr val="000000"/>
                </a:solidFill>
                <a:latin typeface="Consolas"/>
              </a:defRPr>
            </a:pPr>
            <a:r>
              <a:t>https://agent.tinyfish.ai/v1/automation/run</a:t>
            </a:r>
          </a:p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Official web agent execution endpoint for dynamic site traversal &amp; scraping.</a:t>
            </a:r>
            <a:br/>
          </a:p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[LINK] GOOGLE GEMINI API (GEMINI 3.5 FLASH)</a:t>
            </a:r>
          </a:p>
          <a:p>
            <a:pPr>
              <a:defRPr sz="850" b="1">
                <a:solidFill>
                  <a:srgbClr val="000000"/>
                </a:solidFill>
                <a:latin typeface="Consolas"/>
              </a:defRPr>
            </a:pPr>
            <a:r>
              <a:t>https://ai.google.dev/gemini-api/docs</a:t>
            </a:r>
          </a:p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Official documentation for Gemini multimodal models and structured prompting.</a:t>
            </a:r>
            <a:br/>
          </a:p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[LINK] SUPABASE POSTGRESQL &amp; ROW LEVEL SECURITY</a:t>
            </a:r>
          </a:p>
          <a:p>
            <a:pPr>
              <a:defRPr sz="850" b="1">
                <a:solidFill>
                  <a:srgbClr val="000000"/>
                </a:solidFill>
                <a:latin typeface="Consolas"/>
              </a:defRPr>
            </a:pPr>
            <a:r>
              <a:t>https://supabase.com/docs/guides/database</a:t>
            </a:r>
          </a:p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Official guide on PostgreSQL ACID guarantees, RLS policies, and database webhooks.</a:t>
            </a:r>
            <a:br/>
          </a:p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[LINK] NEXT.JS 14 FRAMEWORK DOCUMENTATION</a:t>
            </a:r>
          </a:p>
          <a:p>
            <a:pPr>
              <a:defRPr sz="850" b="1">
                <a:solidFill>
                  <a:srgbClr val="000000"/>
                </a:solidFill>
                <a:latin typeface="Consolas"/>
              </a:defRPr>
            </a:pPr>
            <a:r>
              <a:t>https://nextjs.org/docs</a:t>
            </a:r>
          </a:p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App router documentation for server components, route handlers, and production builds.</a:t>
            </a:r>
            <a:br/>
          </a:p>
        </p:txBody>
      </p:sp>
      <p:sp>
        <p:nvSpPr>
          <p:cNvPr id="17" name="Rectangle 16"/>
          <p:cNvSpPr/>
          <p:nvPr/>
        </p:nvSpPr>
        <p:spPr>
          <a:xfrm>
            <a:off x="6364224" y="1764792"/>
            <a:ext cx="5166360" cy="4617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91072" y="1691640"/>
            <a:ext cx="5166360" cy="461772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1911095"/>
            <a:ext cx="3474720" cy="34747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1874519"/>
            <a:ext cx="3474720" cy="347472"/>
          </a:xfrm>
          <a:prstGeom prst="rect">
            <a:avLst/>
          </a:prstGeom>
          <a:solidFill>
            <a:srgbClr val="A7F3D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874519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C0D0E"/>
                </a:solidFill>
                <a:latin typeface="Arial Black"/>
              </a:defRPr>
            </a:pPr>
            <a:r>
              <a:t>VERIFIED INDUSTRY &amp; ACADEMIC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331720"/>
            <a:ext cx="48006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[SOURCE] U.S. SMALL BUSINESS ADMINISTRATION (SBA)</a:t>
            </a:r>
          </a:p>
          <a:p>
            <a:pPr>
              <a:defRPr sz="850" b="1">
                <a:solidFill>
                  <a:srgbClr val="000000"/>
                </a:solidFill>
                <a:latin typeface="Consolas"/>
              </a:defRPr>
            </a:pPr>
            <a:r>
              <a:t>https://www.sba.gov/business-guide/manage-your-business</a:t>
            </a:r>
          </a:p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Research on small business time allocation: 40%+ of founder bandwidth spent on non-revenue admin operations.</a:t>
            </a:r>
            <a:br/>
          </a:p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[SOURCE] NATIONAL RETAIL FEDERATION (NRF) / IHL GROUP</a:t>
            </a:r>
          </a:p>
          <a:p>
            <a:pPr>
              <a:defRPr sz="850" b="1">
                <a:solidFill>
                  <a:srgbClr val="000000"/>
                </a:solidFill>
                <a:latin typeface="Consolas"/>
              </a:defRPr>
            </a:pPr>
            <a:r>
              <a:t>https://nrf.com/research</a:t>
            </a:r>
          </a:p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Global inventory distortion analysis: $1.1 Trillion lost annually due to out-of-stocks and inventory miscalculation.</a:t>
            </a:r>
            <a:br/>
          </a:p>
          <a:p>
            <a:pPr>
              <a:defRPr sz="1050" b="1">
                <a:solidFill>
                  <a:srgbClr val="0C0D0E"/>
                </a:solidFill>
                <a:latin typeface="Arial Black"/>
              </a:defRPr>
            </a:pPr>
            <a:r>
              <a:t>[SOURCE] OPPORA REPOSITORY &amp; AUTOMATED TEST SUITE</a:t>
            </a:r>
          </a:p>
          <a:p>
            <a:pPr>
              <a:defRPr sz="850" b="1">
                <a:solidFill>
                  <a:srgbClr val="000000"/>
                </a:solidFill>
                <a:latin typeface="Consolas"/>
              </a:defRPr>
            </a:pPr>
            <a:r>
              <a:t>Local Workspace &amp; GitHub Repo (Commit df60b59)</a:t>
            </a:r>
          </a:p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All 99 automated tests passing, master remediation verification report logged in repository.</a:t>
            </a:r>
            <a:b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